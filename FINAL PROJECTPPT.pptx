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6" r:id="rId3"/>
    <p:sldId id="267" r:id="rId4"/>
    <p:sldId id="257" r:id="rId5"/>
    <p:sldId id="258" r:id="rId6"/>
    <p:sldId id="259" r:id="rId7"/>
    <p:sldId id="261" r:id="rId8"/>
    <p:sldId id="260" r:id="rId9"/>
    <p:sldId id="262" r:id="rId10"/>
    <p:sldId id="263" r:id="rId11"/>
    <p:sldId id="268" r:id="rId12"/>
    <p:sldId id="269" r:id="rId13"/>
    <p:sldId id="264"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B0D338-2BA5-4774-81FF-D20832338704}" v="21" dt="2026-01-31T15:18:26.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4202771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383303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169566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074E93-CD9B-4AB0-A995-E58393AE837D}"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4210585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074E93-CD9B-4AB0-A995-E58393AE837D}"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4083354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074E93-CD9B-4AB0-A995-E58393AE837D}"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103072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074E93-CD9B-4AB0-A995-E58393AE837D}"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3198691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074E93-CD9B-4AB0-A995-E58393AE837D}"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2006569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074E93-CD9B-4AB0-A995-E58393AE837D}"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3972015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074E93-CD9B-4AB0-A995-E58393AE837D}"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1511200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2882994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22751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1428289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2264346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77049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4019672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074E93-CD9B-4AB0-A995-E58393AE837D}"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8FE398-9590-4E58-869D-765468D1BFE2}" type="slidenum">
              <a:rPr lang="en-IN" smtClean="0"/>
              <a:t>‹#›</a:t>
            </a:fld>
            <a:endParaRPr lang="en-IN"/>
          </a:p>
        </p:txBody>
      </p:sp>
    </p:spTree>
    <p:extLst>
      <p:ext uri="{BB962C8B-B14F-4D97-AF65-F5344CB8AC3E}">
        <p14:creationId xmlns:p14="http://schemas.microsoft.com/office/powerpoint/2010/main" val="4283120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E074E93-CD9B-4AB0-A995-E58393AE837D}" type="datetimeFigureOut">
              <a:rPr lang="en-IN" smtClean="0"/>
              <a:t>31-01-2026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8FE398-9590-4E58-869D-765468D1BFE2}" type="slidenum">
              <a:rPr lang="en-IN" smtClean="0"/>
              <a:t>‹#›</a:t>
            </a:fld>
            <a:endParaRPr lang="en-IN"/>
          </a:p>
        </p:txBody>
      </p:sp>
    </p:spTree>
    <p:extLst>
      <p:ext uri="{BB962C8B-B14F-4D97-AF65-F5344CB8AC3E}">
        <p14:creationId xmlns:p14="http://schemas.microsoft.com/office/powerpoint/2010/main" val="31046757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50F43-7E31-E3E0-1D0C-19511B21A84F}"/>
              </a:ext>
            </a:extLst>
          </p:cNvPr>
          <p:cNvSpPr>
            <a:spLocks noGrp="1"/>
          </p:cNvSpPr>
          <p:nvPr>
            <p:ph type="title"/>
          </p:nvPr>
        </p:nvSpPr>
        <p:spPr>
          <a:xfrm>
            <a:off x="1484311" y="0"/>
            <a:ext cx="10018713" cy="1342239"/>
          </a:xfrm>
        </p:spPr>
        <p:txBody>
          <a:bodyPr>
            <a:normAutofit/>
          </a:bodyPr>
          <a:lstStyle/>
          <a:p>
            <a:r>
              <a:rPr lang="en-US" sz="2800" b="1" dirty="0"/>
              <a:t>SRI VENKATESWARA COLLEGE OF ENGINEERING AND TECHNOLOGY(AUTONOMOUS)</a:t>
            </a:r>
            <a:endParaRPr lang="en-IN" sz="2800" b="1" dirty="0"/>
          </a:p>
        </p:txBody>
      </p:sp>
      <p:sp>
        <p:nvSpPr>
          <p:cNvPr id="3" name="Subtitle 2">
            <a:extLst>
              <a:ext uri="{FF2B5EF4-FFF2-40B4-BE49-F238E27FC236}">
                <a16:creationId xmlns:a16="http://schemas.microsoft.com/office/drawing/2014/main" id="{6DB51680-2A81-29DE-A81F-0A539E075589}"/>
              </a:ext>
            </a:extLst>
          </p:cNvPr>
          <p:cNvSpPr>
            <a:spLocks noGrp="1"/>
          </p:cNvSpPr>
          <p:nvPr>
            <p:ph idx="1"/>
          </p:nvPr>
        </p:nvSpPr>
        <p:spPr>
          <a:xfrm>
            <a:off x="1484311" y="1342239"/>
            <a:ext cx="10018713" cy="5515761"/>
          </a:xfrm>
        </p:spPr>
        <p:txBody>
          <a:bodyPr>
            <a:normAutofit/>
          </a:bodyPr>
          <a:lstStyle/>
          <a:p>
            <a:pPr marL="0" indent="0">
              <a:buNone/>
            </a:pPr>
            <a:endParaRPr lang="en-US" dirty="0">
              <a:solidFill>
                <a:srgbClr val="7030A0"/>
              </a:solidFill>
            </a:endParaRPr>
          </a:p>
          <a:p>
            <a:pPr marL="0" indent="0">
              <a:buNone/>
            </a:pPr>
            <a:endParaRPr lang="en-US" dirty="0">
              <a:solidFill>
                <a:srgbClr val="7030A0"/>
              </a:solidFill>
            </a:endParaRPr>
          </a:p>
          <a:p>
            <a:pPr marL="0" indent="0">
              <a:buNone/>
            </a:pPr>
            <a:endParaRPr lang="en-US" dirty="0">
              <a:solidFill>
                <a:srgbClr val="7030A0"/>
              </a:solidFill>
            </a:endParaRPr>
          </a:p>
          <a:p>
            <a:pPr marL="0" indent="0">
              <a:buNone/>
            </a:pPr>
            <a:r>
              <a:rPr lang="en-US" sz="2000" b="1" dirty="0">
                <a:solidFill>
                  <a:srgbClr val="7030A0"/>
                </a:solidFill>
              </a:rPr>
              <a:t>PROJECT TITLE: </a:t>
            </a:r>
            <a:r>
              <a:rPr lang="en-US" sz="2000" b="1" dirty="0"/>
              <a:t>EV INFRASTRUCTURE AND DEMAND FORECASTING</a:t>
            </a:r>
          </a:p>
          <a:p>
            <a:pPr marL="0" indent="0">
              <a:buNone/>
            </a:pPr>
            <a:r>
              <a:rPr lang="en-US" sz="2000" dirty="0"/>
              <a:t>TEAM MENMBERS:    		</a:t>
            </a:r>
            <a:r>
              <a:rPr lang="en-US" sz="2000" dirty="0" err="1"/>
              <a:t>N.Sireesha</a:t>
            </a:r>
            <a:r>
              <a:rPr lang="en-US" sz="2000" dirty="0"/>
              <a:t>  		</a:t>
            </a:r>
            <a:r>
              <a:rPr lang="en-US" sz="2000" dirty="0">
                <a:latin typeface="Cambria" panose="02040503050406030204" pitchFamily="18" charset="0"/>
                <a:ea typeface="Cambria" panose="02040503050406030204" pitchFamily="18" charset="0"/>
              </a:rPr>
              <a:t>22781A3392</a:t>
            </a:r>
          </a:p>
          <a:p>
            <a:pPr marL="0" indent="0">
              <a:buNone/>
            </a:pP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V.Muneeswar</a:t>
            </a:r>
            <a:r>
              <a:rPr lang="en-US" sz="2000" dirty="0">
                <a:latin typeface="Cambria" panose="02040503050406030204" pitchFamily="18" charset="0"/>
                <a:ea typeface="Cambria" panose="02040503050406030204" pitchFamily="18" charset="0"/>
              </a:rPr>
              <a:t>  	22781A33E1</a:t>
            </a:r>
          </a:p>
          <a:p>
            <a:pPr marL="0" indent="0">
              <a:buNone/>
            </a:pP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T.Abhinay</a:t>
            </a:r>
            <a:r>
              <a:rPr lang="en-US" sz="2000" dirty="0">
                <a:latin typeface="Cambria" panose="02040503050406030204" pitchFamily="18" charset="0"/>
                <a:ea typeface="Cambria" panose="02040503050406030204" pitchFamily="18" charset="0"/>
              </a:rPr>
              <a:t>         	23785A3317</a:t>
            </a:r>
          </a:p>
          <a:p>
            <a:pPr marL="0" indent="0">
              <a:buNone/>
            </a:pP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M.Hari</a:t>
            </a:r>
            <a:r>
              <a:rPr lang="en-US" sz="2000" dirty="0">
                <a:latin typeface="Cambria" panose="02040503050406030204" pitchFamily="18" charset="0"/>
                <a:ea typeface="Cambria" panose="02040503050406030204" pitchFamily="18" charset="0"/>
              </a:rPr>
              <a:t> Krishna   	22781A3389</a:t>
            </a:r>
          </a:p>
          <a:p>
            <a:pPr marL="0" indent="0">
              <a:buNone/>
            </a:pP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D.Susmitha</a:t>
            </a:r>
            <a:r>
              <a:rPr lang="en-US" sz="2000" dirty="0">
                <a:latin typeface="Cambria" panose="02040503050406030204" pitchFamily="18" charset="0"/>
                <a:ea typeface="Cambria" panose="02040503050406030204" pitchFamily="18" charset="0"/>
              </a:rPr>
              <a:t>		23785A3306</a:t>
            </a:r>
          </a:p>
          <a:p>
            <a:pPr marL="0" indent="0">
              <a:buNone/>
            </a:pPr>
            <a:endParaRPr lang="en-US"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NAME OF THE GUIDE: </a:t>
            </a:r>
            <a:r>
              <a:rPr lang="en-US" sz="2000" dirty="0" err="1">
                <a:latin typeface="Cambria" panose="02040503050406030204" pitchFamily="18" charset="0"/>
                <a:ea typeface="Cambria" panose="02040503050406030204" pitchFamily="18" charset="0"/>
              </a:rPr>
              <a:t>Mr.S.PUNITH</a:t>
            </a:r>
            <a:endParaRPr lang="en-IN" sz="2000" dirty="0">
              <a:latin typeface="Cambria" panose="02040503050406030204" pitchFamily="18" charset="0"/>
              <a:ea typeface="Cambria" panose="02040503050406030204" pitchFamily="18" charset="0"/>
            </a:endParaRPr>
          </a:p>
        </p:txBody>
      </p:sp>
      <p:pic>
        <p:nvPicPr>
          <p:cNvPr id="5" name="Picture 4" descr="SVCET - Sri Venkateswara College of Engineering and ...">
            <a:extLst>
              <a:ext uri="{FF2B5EF4-FFF2-40B4-BE49-F238E27FC236}">
                <a16:creationId xmlns:a16="http://schemas.microsoft.com/office/drawing/2014/main" id="{2839700B-7775-3748-F68C-0B58D01A4142}"/>
              </a:ext>
            </a:extLst>
          </p:cNvPr>
          <p:cNvPicPr>
            <a:picLocks noChangeAspect="1"/>
          </p:cNvPicPr>
          <p:nvPr/>
        </p:nvPicPr>
        <p:blipFill>
          <a:blip r:embed="rId2"/>
          <a:stretch>
            <a:fillRect/>
          </a:stretch>
        </p:blipFill>
        <p:spPr>
          <a:xfrm>
            <a:off x="4988653" y="1342239"/>
            <a:ext cx="2214693" cy="1568741"/>
          </a:xfrm>
          <a:prstGeom prst="rect">
            <a:avLst/>
          </a:prstGeom>
        </p:spPr>
      </p:pic>
    </p:spTree>
    <p:extLst>
      <p:ext uri="{BB962C8B-B14F-4D97-AF65-F5344CB8AC3E}">
        <p14:creationId xmlns:p14="http://schemas.microsoft.com/office/powerpoint/2010/main" val="176402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037BC-5D83-02E3-3F86-A3B744618DBB}"/>
              </a:ext>
            </a:extLst>
          </p:cNvPr>
          <p:cNvSpPr>
            <a:spLocks noGrp="1"/>
          </p:cNvSpPr>
          <p:nvPr>
            <p:ph type="title"/>
          </p:nvPr>
        </p:nvSpPr>
        <p:spPr>
          <a:xfrm>
            <a:off x="1484311" y="251669"/>
            <a:ext cx="3171579" cy="947957"/>
          </a:xfrm>
        </p:spPr>
        <p:txBody>
          <a:bodyPr>
            <a:normAutofit/>
          </a:bodyPr>
          <a:lstStyle/>
          <a:p>
            <a:r>
              <a:rPr lang="en-US" sz="2400" b="1" dirty="0">
                <a:solidFill>
                  <a:srgbClr val="7030A0"/>
                </a:solidFill>
              </a:rPr>
              <a:t>ABSTRACT</a:t>
            </a:r>
            <a:endParaRPr lang="en-IN" sz="2400" b="1" dirty="0">
              <a:solidFill>
                <a:srgbClr val="7030A0"/>
              </a:solidFill>
            </a:endParaRPr>
          </a:p>
        </p:txBody>
      </p:sp>
      <p:sp>
        <p:nvSpPr>
          <p:cNvPr id="3" name="Content Placeholder 2">
            <a:extLst>
              <a:ext uri="{FF2B5EF4-FFF2-40B4-BE49-F238E27FC236}">
                <a16:creationId xmlns:a16="http://schemas.microsoft.com/office/drawing/2014/main" id="{AB754094-CFE3-8B74-7279-2F44C373A245}"/>
              </a:ext>
            </a:extLst>
          </p:cNvPr>
          <p:cNvSpPr>
            <a:spLocks noGrp="1"/>
          </p:cNvSpPr>
          <p:nvPr>
            <p:ph idx="1"/>
          </p:nvPr>
        </p:nvSpPr>
        <p:spPr>
          <a:xfrm>
            <a:off x="1484310" y="780177"/>
            <a:ext cx="10018713" cy="5011024"/>
          </a:xfrm>
        </p:spPr>
        <p:txBody>
          <a:bodyPr>
            <a:normAutofit/>
          </a:bodyPr>
          <a:lstStyle/>
          <a:p>
            <a:r>
              <a:rPr lang="en-US" sz="1800" dirty="0"/>
              <a:t>The growing adoption of electric vehicles has increased the demand for reliable and well-distributed charging infrastructure. However, many regions still face issues such as charging deserts, congestion at peak hours, and Inefficient station placement.</a:t>
            </a:r>
          </a:p>
          <a:p>
            <a:r>
              <a:rPr lang="en-US" sz="1800" dirty="0"/>
              <a:t>This project focuses on EV Charging Infrastructure Analytics and Demand Forecasting using data-driven techniques. By analyzing historical charging data, EV usage patterns, traffic flow, and geographic factors, machine learning models are developed to forecast future charging demand and identify optimal locations for new stations. </a:t>
            </a:r>
          </a:p>
          <a:p>
            <a:r>
              <a:rPr lang="en-US" sz="1800" dirty="0"/>
              <a:t>The expected outcome is an intelligent planning system that helps policymakers and operators improve charger accessibility, reduce waiting times, and optimize infrastructure deployment for a sustainable EV ecosystem.</a:t>
            </a:r>
            <a:endParaRPr lang="en-IN" sz="1800" dirty="0"/>
          </a:p>
          <a:p>
            <a:endParaRPr lang="en-IN" dirty="0"/>
          </a:p>
        </p:txBody>
      </p:sp>
    </p:spTree>
    <p:extLst>
      <p:ext uri="{BB962C8B-B14F-4D97-AF65-F5344CB8AC3E}">
        <p14:creationId xmlns:p14="http://schemas.microsoft.com/office/powerpoint/2010/main" val="1806691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1CBFE-5264-AE0F-4F12-7623A7D9F6A5}"/>
              </a:ext>
            </a:extLst>
          </p:cNvPr>
          <p:cNvSpPr>
            <a:spLocks noGrp="1"/>
          </p:cNvSpPr>
          <p:nvPr>
            <p:ph type="title"/>
          </p:nvPr>
        </p:nvSpPr>
        <p:spPr>
          <a:xfrm>
            <a:off x="1484312" y="1"/>
            <a:ext cx="3045744" cy="1392572"/>
          </a:xfrm>
        </p:spPr>
        <p:txBody>
          <a:bodyPr>
            <a:normAutofit/>
          </a:bodyPr>
          <a:lstStyle/>
          <a:p>
            <a:r>
              <a:rPr lang="en-US" sz="2400" b="1" dirty="0">
                <a:solidFill>
                  <a:srgbClr val="7030A0"/>
                </a:solidFill>
              </a:rPr>
              <a:t>INTRODUCTION</a:t>
            </a:r>
            <a:endParaRPr lang="en-IN" sz="2400" b="1" dirty="0">
              <a:solidFill>
                <a:srgbClr val="7030A0"/>
              </a:solidFill>
            </a:endParaRPr>
          </a:p>
        </p:txBody>
      </p:sp>
      <p:sp>
        <p:nvSpPr>
          <p:cNvPr id="3" name="Content Placeholder 2">
            <a:extLst>
              <a:ext uri="{FF2B5EF4-FFF2-40B4-BE49-F238E27FC236}">
                <a16:creationId xmlns:a16="http://schemas.microsoft.com/office/drawing/2014/main" id="{0CC0719E-608B-D0D7-2EC9-361C5CCA9575}"/>
              </a:ext>
            </a:extLst>
          </p:cNvPr>
          <p:cNvSpPr>
            <a:spLocks noGrp="1"/>
          </p:cNvSpPr>
          <p:nvPr>
            <p:ph idx="1"/>
          </p:nvPr>
        </p:nvSpPr>
        <p:spPr>
          <a:xfrm>
            <a:off x="1484310" y="1728132"/>
            <a:ext cx="10018713" cy="4605556"/>
          </a:xfrm>
        </p:spPr>
        <p:txBody>
          <a:bodyPr>
            <a:normAutofit fontScale="92500"/>
          </a:bodyPr>
          <a:lstStyle/>
          <a:p>
            <a:r>
              <a:rPr lang="en-US" sz="2100" b="1" dirty="0">
                <a:latin typeface="Calibri" panose="020F0502020204030204" pitchFamily="34" charset="0"/>
                <a:ea typeface="Calibri" panose="020F0502020204030204" pitchFamily="34" charset="0"/>
                <a:cs typeface="Calibri" panose="020F0502020204030204" pitchFamily="34" charset="0"/>
              </a:rPr>
              <a:t>Background of the Project</a:t>
            </a:r>
          </a:p>
          <a:p>
            <a:pPr marL="457200" lvl="1" indent="0">
              <a:buNone/>
            </a:pPr>
            <a:r>
              <a:rPr lang="en-US" sz="1800" dirty="0">
                <a:latin typeface="Calibri" panose="020F0502020204030204" pitchFamily="34" charset="0"/>
                <a:ea typeface="Calibri" panose="020F0502020204030204" pitchFamily="34" charset="0"/>
                <a:cs typeface="Calibri" panose="020F0502020204030204" pitchFamily="34" charset="0"/>
              </a:rPr>
              <a:t>With the rapid rise in electric vehicle adoption, the demand for accessible and efficient charging infrastructure is increasing. Many regions still face issues such as limited charging stations, uneven distribution, and peak-time congestion. This creates the need for data-driven planning to understand usage patterns and forecast future requirements.</a:t>
            </a:r>
          </a:p>
          <a:p>
            <a:r>
              <a:rPr lang="en-US" sz="2100" b="1" dirty="0"/>
              <a:t>Motivation for Choosing the Project</a:t>
            </a:r>
          </a:p>
          <a:p>
            <a:pPr marL="457200" lvl="1" indent="0">
              <a:buNone/>
            </a:pPr>
            <a:r>
              <a:rPr lang="en-US" sz="1800" dirty="0"/>
              <a:t>This project was chosen to address a real-world sustainability challenge. EVs play an important role in reducing pollution, but their growth is limited by poor charging accessibility. By applying analytics and machine learning, this project aims to support smarter decisions for improving EV charging networks.</a:t>
            </a:r>
          </a:p>
          <a:p>
            <a:r>
              <a:rPr lang="en-US" sz="2100" b="1" dirty="0"/>
              <a:t>Importance and Relevance of the Problem</a:t>
            </a:r>
          </a:p>
          <a:p>
            <a:pPr marL="457200" lvl="1" indent="0">
              <a:buNone/>
            </a:pPr>
            <a:r>
              <a:rPr lang="en-US" sz="1900" dirty="0"/>
              <a:t>A well-planned charging infrastructure is essential for smooth EV adoption. Without proper forecasting and analysis, users face delays, operators incur losses, and EV growth slows down. This problem is highly relevant today as governments and industries push toward cleaner and more reliable transportation solutions.</a:t>
            </a:r>
          </a:p>
          <a:p>
            <a:pPr lvl="1"/>
            <a:endParaRPr lang="en-US" sz="19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78422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3D41-9AB5-9622-3774-8432D45F6E39}"/>
              </a:ext>
            </a:extLst>
          </p:cNvPr>
          <p:cNvSpPr>
            <a:spLocks noGrp="1"/>
          </p:cNvSpPr>
          <p:nvPr>
            <p:ph type="title"/>
          </p:nvPr>
        </p:nvSpPr>
        <p:spPr>
          <a:xfrm>
            <a:off x="1484312" y="192947"/>
            <a:ext cx="3607806" cy="873853"/>
          </a:xfrm>
        </p:spPr>
        <p:txBody>
          <a:bodyPr>
            <a:normAutofit/>
          </a:bodyPr>
          <a:lstStyle/>
          <a:p>
            <a:r>
              <a:rPr lang="en-US" sz="2400" b="1" dirty="0">
                <a:solidFill>
                  <a:srgbClr val="7030A0"/>
                </a:solidFill>
              </a:rPr>
              <a:t>PROBLEM STATEMENT:</a:t>
            </a:r>
            <a:endParaRPr lang="en-IN" sz="2400" b="1" dirty="0">
              <a:solidFill>
                <a:srgbClr val="7030A0"/>
              </a:solidFill>
            </a:endParaRPr>
          </a:p>
        </p:txBody>
      </p:sp>
      <p:sp>
        <p:nvSpPr>
          <p:cNvPr id="3" name="Content Placeholder 2">
            <a:extLst>
              <a:ext uri="{FF2B5EF4-FFF2-40B4-BE49-F238E27FC236}">
                <a16:creationId xmlns:a16="http://schemas.microsoft.com/office/drawing/2014/main" id="{FC8F10BE-E823-B38A-E33E-67B0432AAD6C}"/>
              </a:ext>
            </a:extLst>
          </p:cNvPr>
          <p:cNvSpPr>
            <a:spLocks noGrp="1"/>
          </p:cNvSpPr>
          <p:nvPr>
            <p:ph idx="1"/>
          </p:nvPr>
        </p:nvSpPr>
        <p:spPr>
          <a:xfrm>
            <a:off x="1484310" y="620786"/>
            <a:ext cx="10018713" cy="5662570"/>
          </a:xfrm>
        </p:spPr>
        <p:txBody>
          <a:bodyPr/>
          <a:lstStyle/>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With the rapid growth of electric vehicles, drivers often face uncertainty in finding suitable charging stations during trips due to uneven infrastructure distribution and fluctuating demand. • Rapid growth of electric vehicles has increased pressure on charging infrastructure.</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 EV drivers face difficulty finding suitable charging stations during travel.</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 Charging demand varies by time, location, and vehicle usage patterns.</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•Existing systems mainly focus only on demand forecasting or infrastructure planning.</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 No integrated system combines demand prediction + route-based station recommendation.</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 Drivers lack information about which station is best along their travel path.</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 There is a need for a data-driven system that predicts demand and assists trip planning.</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Therefore, this project aims to develop an intelligent EV decision support system that forecasts charging demand and recommends optimal charging stations based on user routes.</a:t>
            </a:r>
          </a:p>
          <a:p>
            <a:pPr marL="0" indent="0">
              <a:buNone/>
            </a:pPr>
            <a:endParaRPr lang="en-IN" dirty="0"/>
          </a:p>
        </p:txBody>
      </p:sp>
    </p:spTree>
    <p:extLst>
      <p:ext uri="{BB962C8B-B14F-4D97-AF65-F5344CB8AC3E}">
        <p14:creationId xmlns:p14="http://schemas.microsoft.com/office/powerpoint/2010/main" val="136314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5C9E2-F274-2027-937E-C340B2229E08}"/>
              </a:ext>
            </a:extLst>
          </p:cNvPr>
          <p:cNvSpPr>
            <a:spLocks noGrp="1"/>
          </p:cNvSpPr>
          <p:nvPr>
            <p:ph type="title"/>
          </p:nvPr>
        </p:nvSpPr>
        <p:spPr>
          <a:xfrm>
            <a:off x="1484312" y="0"/>
            <a:ext cx="4396371" cy="922789"/>
          </a:xfrm>
        </p:spPr>
        <p:txBody>
          <a:bodyPr>
            <a:normAutofit/>
          </a:bodyPr>
          <a:lstStyle/>
          <a:p>
            <a:r>
              <a:rPr lang="en-US" sz="2400" b="1" dirty="0">
                <a:solidFill>
                  <a:srgbClr val="7030A0"/>
                </a:solidFill>
              </a:rPr>
              <a:t>EXISTING PROJECT:</a:t>
            </a:r>
            <a:endParaRPr lang="en-IN" sz="2400" b="1" dirty="0">
              <a:solidFill>
                <a:srgbClr val="7030A0"/>
              </a:solidFill>
            </a:endParaRPr>
          </a:p>
        </p:txBody>
      </p:sp>
      <p:sp>
        <p:nvSpPr>
          <p:cNvPr id="3" name="Content Placeholder 2">
            <a:extLst>
              <a:ext uri="{FF2B5EF4-FFF2-40B4-BE49-F238E27FC236}">
                <a16:creationId xmlns:a16="http://schemas.microsoft.com/office/drawing/2014/main" id="{E9CEC2C6-DDB0-D714-5F33-12D8E9D549F6}"/>
              </a:ext>
            </a:extLst>
          </p:cNvPr>
          <p:cNvSpPr>
            <a:spLocks noGrp="1"/>
          </p:cNvSpPr>
          <p:nvPr>
            <p:ph idx="1"/>
          </p:nvPr>
        </p:nvSpPr>
        <p:spPr>
          <a:xfrm>
            <a:off x="1626923" y="1191237"/>
            <a:ext cx="10018713" cy="5226341"/>
          </a:xfrm>
        </p:spPr>
        <p:txBody>
          <a:bodyPr>
            <a:normAutofit fontScale="62500" lnSpcReduction="20000"/>
          </a:bodyPr>
          <a:lstStyle/>
          <a:p>
            <a:pPr marL="0" indent="0">
              <a:buNone/>
            </a:pPr>
            <a:r>
              <a:rPr lang="en-US" b="1" dirty="0"/>
              <a:t> </a:t>
            </a:r>
            <a:r>
              <a:rPr lang="en-US" sz="2900" b="1" dirty="0"/>
              <a:t>Project name: LSTM-Based EV Charging Demand Forecasting</a:t>
            </a:r>
          </a:p>
          <a:p>
            <a:pPr marL="0" indent="0">
              <a:buNone/>
            </a:pPr>
            <a:r>
              <a:rPr lang="en-US" sz="2900" b="1" dirty="0"/>
              <a:t>📌 Problem</a:t>
            </a:r>
            <a:br>
              <a:rPr lang="en-US" sz="2900" dirty="0"/>
            </a:br>
            <a:r>
              <a:rPr lang="en-US" sz="2900" dirty="0"/>
              <a:t>Accurately forecast EV charging load at stations to support energy planning and grid management.</a:t>
            </a:r>
          </a:p>
          <a:p>
            <a:pPr marL="0" indent="0">
              <a:buNone/>
            </a:pPr>
            <a:r>
              <a:rPr lang="en-US" sz="2900" b="1" dirty="0"/>
              <a:t>🎯 Main Aim</a:t>
            </a:r>
            <a:br>
              <a:rPr lang="en-US" sz="2900" dirty="0"/>
            </a:br>
            <a:r>
              <a:rPr lang="en-US" sz="2900" dirty="0"/>
              <a:t>Predict short-term and long-term charging demand using historical usage data.</a:t>
            </a:r>
          </a:p>
          <a:p>
            <a:pPr marL="0" indent="0">
              <a:buNone/>
            </a:pPr>
            <a:r>
              <a:rPr lang="en-US" sz="2900" b="1" dirty="0"/>
              <a:t>🧠 Algorithm Used</a:t>
            </a:r>
            <a:endParaRPr lang="en-US" sz="2900" dirty="0"/>
          </a:p>
          <a:p>
            <a:r>
              <a:rPr lang="en-US" sz="2900" dirty="0"/>
              <a:t>Data preprocessing (cleaning, normalization)</a:t>
            </a:r>
          </a:p>
          <a:p>
            <a:r>
              <a:rPr lang="en-US" sz="2900" b="1" dirty="0"/>
              <a:t>LSTM (Long Short-Term Memory)</a:t>
            </a:r>
            <a:r>
              <a:rPr lang="en-US" sz="2900" dirty="0"/>
              <a:t> neural network for time-series forecasting</a:t>
            </a:r>
          </a:p>
          <a:p>
            <a:pPr marL="0" indent="0">
              <a:buNone/>
            </a:pPr>
            <a:r>
              <a:rPr lang="en-US" sz="2900" b="1" dirty="0"/>
              <a:t>📊 Outputs</a:t>
            </a:r>
            <a:endParaRPr lang="en-US" sz="2900" dirty="0"/>
          </a:p>
          <a:p>
            <a:r>
              <a:rPr lang="en-US" sz="2900" dirty="0"/>
              <a:t>Daily, weekly, monthly demand predictions</a:t>
            </a:r>
          </a:p>
          <a:p>
            <a:r>
              <a:rPr lang="en-US" sz="2900" dirty="0"/>
              <a:t>Charging usage pattern analysis</a:t>
            </a:r>
          </a:p>
          <a:p>
            <a:pPr marL="0" indent="0">
              <a:buNone/>
            </a:pPr>
            <a:r>
              <a:rPr lang="en-US" sz="2900" b="1" dirty="0"/>
              <a:t>⚠️ Limitations</a:t>
            </a:r>
            <a:endParaRPr lang="en-US" sz="2900" dirty="0"/>
          </a:p>
          <a:p>
            <a:r>
              <a:rPr lang="en-US" sz="2900" dirty="0"/>
              <a:t>Needs large historical dataset</a:t>
            </a:r>
          </a:p>
          <a:p>
            <a:r>
              <a:rPr lang="en-US" sz="2900" dirty="0"/>
              <a:t>Only predicts demand — </a:t>
            </a:r>
            <a:r>
              <a:rPr lang="en-US" sz="2900" b="1" dirty="0"/>
              <a:t>no route or station recommendation</a:t>
            </a:r>
            <a:endParaRPr lang="en-US" sz="2900" dirty="0"/>
          </a:p>
          <a:p>
            <a:r>
              <a:rPr lang="en-US" sz="2900" dirty="0"/>
              <a:t>Limited to specific area (e.g., campus/city)</a:t>
            </a:r>
          </a:p>
          <a:p>
            <a:endParaRPr lang="en-IN" dirty="0"/>
          </a:p>
        </p:txBody>
      </p:sp>
    </p:spTree>
    <p:extLst>
      <p:ext uri="{BB962C8B-B14F-4D97-AF65-F5344CB8AC3E}">
        <p14:creationId xmlns:p14="http://schemas.microsoft.com/office/powerpoint/2010/main" val="91741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4EC61-74EA-BB33-ACDD-985F4AE1A6EF}"/>
              </a:ext>
            </a:extLst>
          </p:cNvPr>
          <p:cNvSpPr>
            <a:spLocks noGrp="1"/>
          </p:cNvSpPr>
          <p:nvPr>
            <p:ph type="title"/>
          </p:nvPr>
        </p:nvSpPr>
        <p:spPr>
          <a:xfrm>
            <a:off x="1484312" y="1"/>
            <a:ext cx="3138022" cy="1066800"/>
          </a:xfrm>
        </p:spPr>
        <p:txBody>
          <a:bodyPr>
            <a:normAutofit/>
          </a:bodyPr>
          <a:lstStyle/>
          <a:p>
            <a:r>
              <a:rPr lang="en-US" sz="2400" b="1" dirty="0">
                <a:solidFill>
                  <a:srgbClr val="7030A0"/>
                </a:solidFill>
              </a:rPr>
              <a:t>OUR PROJECT:</a:t>
            </a:r>
            <a:endParaRPr lang="en-IN" sz="2400" b="1" dirty="0">
              <a:solidFill>
                <a:srgbClr val="7030A0"/>
              </a:solidFill>
            </a:endParaRPr>
          </a:p>
        </p:txBody>
      </p:sp>
      <p:sp>
        <p:nvSpPr>
          <p:cNvPr id="3" name="Content Placeholder 2">
            <a:extLst>
              <a:ext uri="{FF2B5EF4-FFF2-40B4-BE49-F238E27FC236}">
                <a16:creationId xmlns:a16="http://schemas.microsoft.com/office/drawing/2014/main" id="{E7DFA6CE-5339-F248-0912-3A346EEBA18C}"/>
              </a:ext>
            </a:extLst>
          </p:cNvPr>
          <p:cNvSpPr>
            <a:spLocks noGrp="1"/>
          </p:cNvSpPr>
          <p:nvPr>
            <p:ph idx="1"/>
          </p:nvPr>
        </p:nvSpPr>
        <p:spPr>
          <a:xfrm>
            <a:off x="1484310" y="1266738"/>
            <a:ext cx="10018713" cy="5519955"/>
          </a:xfrm>
        </p:spPr>
        <p:txBody>
          <a:bodyPr>
            <a:normAutofit fontScale="92500"/>
          </a:bodyPr>
          <a:lstStyle/>
          <a:p>
            <a:pPr marL="0" indent="0">
              <a:buNone/>
            </a:pPr>
            <a:r>
              <a:rPr lang="en-IN" sz="1900" b="1" dirty="0"/>
              <a:t>Project name: EV Charging Infrastructure and demand forecasting</a:t>
            </a:r>
          </a:p>
          <a:p>
            <a:pPr marL="0" indent="0">
              <a:buNone/>
            </a:pPr>
            <a:r>
              <a:rPr lang="en-IN" sz="1900" b="1" dirty="0"/>
              <a:t>📌 Problem</a:t>
            </a:r>
            <a:br>
              <a:rPr lang="en-IN" sz="1900" dirty="0"/>
            </a:br>
            <a:r>
              <a:rPr lang="en-IN" sz="1900" dirty="0"/>
              <a:t>EV drivers struggle to find suitable charging stations during trips, and demand at stations is uncertain.</a:t>
            </a:r>
          </a:p>
          <a:p>
            <a:pPr marL="0" indent="0">
              <a:buNone/>
            </a:pPr>
            <a:r>
              <a:rPr lang="en-IN" sz="1900" b="1" dirty="0"/>
              <a:t>🎯 Main Aim</a:t>
            </a:r>
            <a:br>
              <a:rPr lang="en-IN" sz="1900" dirty="0"/>
            </a:br>
            <a:r>
              <a:rPr lang="en-IN" sz="1900" dirty="0"/>
              <a:t>Combine </a:t>
            </a:r>
            <a:r>
              <a:rPr lang="en-IN" sz="1900" b="1" dirty="0"/>
              <a:t>charging demand forecasting</a:t>
            </a:r>
            <a:r>
              <a:rPr lang="en-IN" sz="1900" dirty="0"/>
              <a:t> with </a:t>
            </a:r>
            <a:r>
              <a:rPr lang="en-IN" sz="1900" b="1" dirty="0"/>
              <a:t>route-based station recommendation</a:t>
            </a:r>
            <a:r>
              <a:rPr lang="en-IN" sz="1900" dirty="0"/>
              <a:t> for EV users.</a:t>
            </a:r>
          </a:p>
          <a:p>
            <a:pPr marL="0" indent="0">
              <a:buNone/>
            </a:pPr>
            <a:r>
              <a:rPr lang="en-IN" sz="1900" b="1" dirty="0"/>
              <a:t>🧠 Algorithms / Techniques Used</a:t>
            </a:r>
            <a:endParaRPr lang="en-IN" sz="1900" dirty="0"/>
          </a:p>
          <a:p>
            <a:r>
              <a:rPr lang="en-IN" sz="1900" dirty="0"/>
              <a:t>Data preprocessing &amp; EDA</a:t>
            </a:r>
          </a:p>
          <a:p>
            <a:r>
              <a:rPr lang="en-IN" sz="1900" dirty="0"/>
              <a:t>Demand forecasting model (e.g., LSTM / ML model)</a:t>
            </a:r>
          </a:p>
          <a:p>
            <a:r>
              <a:rPr lang="en-IN" sz="1900" b="1" dirty="0"/>
              <a:t>Distance calculation</a:t>
            </a:r>
            <a:r>
              <a:rPr lang="en-IN" sz="1900" dirty="0"/>
              <a:t> (source → destination)</a:t>
            </a:r>
          </a:p>
          <a:p>
            <a:r>
              <a:rPr lang="en-IN" sz="1900" dirty="0"/>
              <a:t>Route logic + station selection algorithm</a:t>
            </a:r>
          </a:p>
          <a:p>
            <a:pPr marL="0" indent="0">
              <a:buNone/>
            </a:pPr>
            <a:r>
              <a:rPr lang="en-IN" sz="1900" b="1" dirty="0"/>
              <a:t>📊 Outputs</a:t>
            </a:r>
            <a:endParaRPr lang="en-IN" sz="1900" dirty="0"/>
          </a:p>
          <a:p>
            <a:r>
              <a:rPr lang="en-IN" sz="1900" dirty="0"/>
              <a:t>Predicted charging demand</a:t>
            </a:r>
          </a:p>
          <a:p>
            <a:r>
              <a:rPr lang="en-IN" sz="1900" dirty="0"/>
              <a:t>Travel distance between source &amp; destination</a:t>
            </a:r>
          </a:p>
          <a:p>
            <a:r>
              <a:rPr lang="en-IN" sz="1900" dirty="0"/>
              <a:t>Recommended charging stations along the route</a:t>
            </a:r>
          </a:p>
          <a:p>
            <a:endParaRPr lang="en-IN" dirty="0"/>
          </a:p>
        </p:txBody>
      </p:sp>
    </p:spTree>
    <p:extLst>
      <p:ext uri="{BB962C8B-B14F-4D97-AF65-F5344CB8AC3E}">
        <p14:creationId xmlns:p14="http://schemas.microsoft.com/office/powerpoint/2010/main" val="1646979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02FA-5154-37A0-0E20-9214303355D4}"/>
              </a:ext>
            </a:extLst>
          </p:cNvPr>
          <p:cNvSpPr>
            <a:spLocks noGrp="1"/>
          </p:cNvSpPr>
          <p:nvPr>
            <p:ph type="title"/>
          </p:nvPr>
        </p:nvSpPr>
        <p:spPr>
          <a:xfrm>
            <a:off x="1484312" y="1"/>
            <a:ext cx="5260437" cy="998290"/>
          </a:xfrm>
        </p:spPr>
        <p:txBody>
          <a:bodyPr>
            <a:normAutofit/>
          </a:bodyPr>
          <a:lstStyle/>
          <a:p>
            <a:r>
              <a:rPr lang="en-US" sz="2400" b="1" dirty="0">
                <a:solidFill>
                  <a:srgbClr val="7030A0"/>
                </a:solidFill>
              </a:rPr>
              <a:t>SYSTEM ARCHITECHTURE</a:t>
            </a:r>
            <a:endParaRPr lang="en-IN" sz="2400" b="1" dirty="0">
              <a:solidFill>
                <a:srgbClr val="7030A0"/>
              </a:solidFill>
            </a:endParaRPr>
          </a:p>
        </p:txBody>
      </p:sp>
      <p:sp>
        <p:nvSpPr>
          <p:cNvPr id="3" name="Content Placeholder 2">
            <a:extLst>
              <a:ext uri="{FF2B5EF4-FFF2-40B4-BE49-F238E27FC236}">
                <a16:creationId xmlns:a16="http://schemas.microsoft.com/office/drawing/2014/main" id="{DC095DC5-692A-31F3-124C-5570CBFEE27F}"/>
              </a:ext>
            </a:extLst>
          </p:cNvPr>
          <p:cNvSpPr>
            <a:spLocks noGrp="1"/>
          </p:cNvSpPr>
          <p:nvPr>
            <p:ph idx="1"/>
          </p:nvPr>
        </p:nvSpPr>
        <p:spPr>
          <a:xfrm>
            <a:off x="1828800" y="-83889"/>
            <a:ext cx="9674225" cy="6333688"/>
          </a:xfrm>
        </p:spPr>
        <p:txBody>
          <a:bodyPr>
            <a:normAutofit/>
          </a:bodyPr>
          <a:lstStyle/>
          <a:p>
            <a:pPr marL="0" indent="0">
              <a:buNone/>
            </a:pPr>
            <a:r>
              <a:rPr lang="en-US" sz="1800" dirty="0"/>
              <a:t>The system architecture of the EV Charging Infrastructure and Demand Forecasting System consists of multiple integrated layers working together to provide intelligent travel support. Initially, data is collected from various sources such as EV charging stations, historical demand records, location coordinates, time-based information, and route or traffic data. This raw data is processed through data cleaning, transformation, and feature engineering to prepare it for analysis. The processed data is then fed into machine learning models like Linear Regression and Random Forest to predict future charging demand. These predictions are combined with a route recommendation module, which analyzes the user’s source and destination, identifies charging stations along the path, and selects optimal stations based on predicted demand and distance. Finally, the results are presented through a user interface that displays routes, charging station suggestions, and demand insights using maps and visualizations.</a:t>
            </a:r>
          </a:p>
          <a:p>
            <a:endParaRPr lang="en-IN" dirty="0"/>
          </a:p>
        </p:txBody>
      </p:sp>
    </p:spTree>
    <p:extLst>
      <p:ext uri="{BB962C8B-B14F-4D97-AF65-F5344CB8AC3E}">
        <p14:creationId xmlns:p14="http://schemas.microsoft.com/office/powerpoint/2010/main" val="385448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A35E8-A9D8-1D9C-A5D5-C8219E73205D}"/>
              </a:ext>
            </a:extLst>
          </p:cNvPr>
          <p:cNvSpPr>
            <a:spLocks noGrp="1"/>
          </p:cNvSpPr>
          <p:nvPr>
            <p:ph type="title"/>
          </p:nvPr>
        </p:nvSpPr>
        <p:spPr>
          <a:xfrm>
            <a:off x="1484312" y="1"/>
            <a:ext cx="5126214" cy="1066800"/>
          </a:xfrm>
        </p:spPr>
        <p:txBody>
          <a:bodyPr>
            <a:normAutofit/>
          </a:bodyPr>
          <a:lstStyle/>
          <a:p>
            <a:r>
              <a:rPr lang="en-US" sz="2400" b="1" dirty="0">
                <a:solidFill>
                  <a:srgbClr val="7030A0"/>
                </a:solidFill>
              </a:rPr>
              <a:t>METHODOLOGY</a:t>
            </a:r>
            <a:endParaRPr lang="en-IN" sz="2400" b="1" dirty="0">
              <a:solidFill>
                <a:srgbClr val="7030A0"/>
              </a:solidFill>
            </a:endParaRPr>
          </a:p>
        </p:txBody>
      </p:sp>
      <p:sp>
        <p:nvSpPr>
          <p:cNvPr id="3" name="Content Placeholder 2">
            <a:extLst>
              <a:ext uri="{FF2B5EF4-FFF2-40B4-BE49-F238E27FC236}">
                <a16:creationId xmlns:a16="http://schemas.microsoft.com/office/drawing/2014/main" id="{8133708E-3E7D-66D6-65D8-8E9FAA35F0B9}"/>
              </a:ext>
            </a:extLst>
          </p:cNvPr>
          <p:cNvSpPr>
            <a:spLocks noGrp="1"/>
          </p:cNvSpPr>
          <p:nvPr>
            <p:ph idx="1"/>
          </p:nvPr>
        </p:nvSpPr>
        <p:spPr>
          <a:xfrm>
            <a:off x="1971413" y="1066802"/>
            <a:ext cx="9531610" cy="3899482"/>
          </a:xfrm>
        </p:spPr>
        <p:txBody>
          <a:bodyPr>
            <a:normAutofit/>
          </a:bodyPr>
          <a:lstStyle/>
          <a:p>
            <a:pPr marL="0" indent="0">
              <a:buNone/>
            </a:pPr>
            <a:r>
              <a:rPr lang="en-US" sz="1800" dirty="0"/>
              <a:t>The methodology of the EV Charging Infrastructure and Demand Forecasting System begins with data collection from various sources, including EV charging station details, historical charging demand, location coordinates, time-based usage patterns, and route information. The collected data undergoes preprocessing steps such as data cleaning, handling missing values, removing duplicates, normalization, and transformation. After preprocessing, feature engineering is performed to create meaningful features like time of day, day of week, station capacity, and location-based attributes. The prepared dataset is then split into training and testing sets, and machine learning models such as Linear Regression and Random Forest are trained to forecast future charging demand. Model performance is evaluated using metrics like MAE, MSE, and R² score to ensure prediction accuracy. The predicted demand results are integrated with a route recommendation module, which analyzes the user’s travel path and suggests suitable charging stations based on demand, distance, and availability. Finally, the system presents outputs through maps, visualizations, and reports to help users and planners make informed decisions.</a:t>
            </a:r>
            <a:endParaRPr lang="en-IN" sz="1800" dirty="0"/>
          </a:p>
        </p:txBody>
      </p:sp>
    </p:spTree>
    <p:extLst>
      <p:ext uri="{BB962C8B-B14F-4D97-AF65-F5344CB8AC3E}">
        <p14:creationId xmlns:p14="http://schemas.microsoft.com/office/powerpoint/2010/main" val="3072633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31588-0226-E055-637B-ABF0A7D10991}"/>
              </a:ext>
            </a:extLst>
          </p:cNvPr>
          <p:cNvSpPr>
            <a:spLocks noGrp="1"/>
          </p:cNvSpPr>
          <p:nvPr>
            <p:ph type="title"/>
          </p:nvPr>
        </p:nvSpPr>
        <p:spPr>
          <a:xfrm>
            <a:off x="1484311" y="0"/>
            <a:ext cx="3305803" cy="889233"/>
          </a:xfrm>
        </p:spPr>
        <p:txBody>
          <a:bodyPr>
            <a:normAutofit/>
          </a:bodyPr>
          <a:lstStyle/>
          <a:p>
            <a:r>
              <a:rPr lang="en-US" sz="2400" b="1" dirty="0">
                <a:solidFill>
                  <a:srgbClr val="7030A0"/>
                </a:solidFill>
              </a:rPr>
              <a:t>IMPLEMENTATION</a:t>
            </a:r>
            <a:endParaRPr lang="en-IN" sz="2400" b="1" dirty="0">
              <a:solidFill>
                <a:srgbClr val="7030A0"/>
              </a:solidFill>
            </a:endParaRPr>
          </a:p>
        </p:txBody>
      </p:sp>
      <p:sp>
        <p:nvSpPr>
          <p:cNvPr id="4" name="Rectangle 1">
            <a:extLst>
              <a:ext uri="{FF2B5EF4-FFF2-40B4-BE49-F238E27FC236}">
                <a16:creationId xmlns:a16="http://schemas.microsoft.com/office/drawing/2014/main" id="{2FFF7144-150F-D3DF-EC5A-729CAACDA4A8}"/>
              </a:ext>
            </a:extLst>
          </p:cNvPr>
          <p:cNvSpPr>
            <a:spLocks noGrp="1" noChangeArrowheads="1"/>
          </p:cNvSpPr>
          <p:nvPr>
            <p:ph idx="1"/>
          </p:nvPr>
        </p:nvSpPr>
        <p:spPr bwMode="auto">
          <a:xfrm>
            <a:off x="1484311" y="691892"/>
            <a:ext cx="1027226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endParaRPr lang="en-US" altLang="en-US" sz="1800" dirty="0">
              <a:latin typeface="Arial" panose="020B0604020202020204" pitchFamily="34" charset="0"/>
            </a:endParaRP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Dataset includes EV stations, historical demand, time, and location data</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Performed data preprocessing:</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Missing value handling</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System developed using Python and data science libraries</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Duplicate removal</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Normalization &amp; transformation</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Applied feature engineering:</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Time of day &amp; day of week</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Station capacity</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Location coordinates</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Usage patterns</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Dataset split into training and testing sets</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ML models implemented:</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Linear Regression (baseline prediction)</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Random Forest (high accuracy forecasting)</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Model performance evaluated using MAE, MSE, R² Score</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Integrated route recommendation module to find optimal stations</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Used mapping tools for route visualization and station display</a:t>
            </a:r>
          </a:p>
          <a:p>
            <a:pPr marL="0" lvl="0" indent="0" defTabSz="914400" eaLnBrk="0" fontAlgn="base" hangingPunct="0">
              <a:spcBef>
                <a:spcPct val="0"/>
              </a:spcBef>
              <a:spcAft>
                <a:spcPct val="0"/>
              </a:spcAft>
              <a:buClrTx/>
              <a:buSzTx/>
              <a:buFontTx/>
              <a:buChar char="•"/>
            </a:pPr>
            <a:r>
              <a:rPr lang="en-US" altLang="en-US" sz="1800" dirty="0">
                <a:latin typeface="Arial" panose="020B0604020202020204" pitchFamily="34" charset="0"/>
              </a:rPr>
              <a:t>Final outputs shown as demand predictions, maps, and analytical graphs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77065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7875F-18BC-19AB-B3CD-914B4D088CB5}"/>
              </a:ext>
            </a:extLst>
          </p:cNvPr>
          <p:cNvSpPr>
            <a:spLocks noGrp="1"/>
          </p:cNvSpPr>
          <p:nvPr>
            <p:ph type="title"/>
          </p:nvPr>
        </p:nvSpPr>
        <p:spPr>
          <a:xfrm>
            <a:off x="1484311" y="0"/>
            <a:ext cx="4966823" cy="906011"/>
          </a:xfrm>
        </p:spPr>
        <p:txBody>
          <a:bodyPr>
            <a:normAutofit/>
          </a:bodyPr>
          <a:lstStyle/>
          <a:p>
            <a:r>
              <a:rPr lang="en-US" sz="2400" b="1" dirty="0">
                <a:solidFill>
                  <a:srgbClr val="7030A0"/>
                </a:solidFill>
              </a:rPr>
              <a:t>EXPERIMENTAL SETUP</a:t>
            </a:r>
            <a:endParaRPr lang="en-IN" sz="2400" b="1" dirty="0">
              <a:solidFill>
                <a:srgbClr val="7030A0"/>
              </a:solidFill>
            </a:endParaRPr>
          </a:p>
        </p:txBody>
      </p:sp>
      <p:sp>
        <p:nvSpPr>
          <p:cNvPr id="3" name="Content Placeholder 2">
            <a:extLst>
              <a:ext uri="{FF2B5EF4-FFF2-40B4-BE49-F238E27FC236}">
                <a16:creationId xmlns:a16="http://schemas.microsoft.com/office/drawing/2014/main" id="{61268623-F3A8-8920-53CB-E9D811CE76B5}"/>
              </a:ext>
            </a:extLst>
          </p:cNvPr>
          <p:cNvSpPr>
            <a:spLocks noGrp="1"/>
          </p:cNvSpPr>
          <p:nvPr>
            <p:ph idx="1"/>
          </p:nvPr>
        </p:nvSpPr>
        <p:spPr>
          <a:xfrm>
            <a:off x="1441777" y="1098958"/>
            <a:ext cx="10018713" cy="5654179"/>
          </a:xfrm>
        </p:spPr>
        <p:txBody>
          <a:bodyPr>
            <a:normAutofit fontScale="92500" lnSpcReduction="20000"/>
          </a:bodyPr>
          <a:lstStyle/>
          <a:p>
            <a:r>
              <a:rPr lang="en-IN" dirty="0"/>
              <a:t>Experiments conducted using Python environment (Anaconda / </a:t>
            </a:r>
            <a:r>
              <a:rPr lang="en-IN" dirty="0" err="1"/>
              <a:t>Jupyter</a:t>
            </a:r>
            <a:r>
              <a:rPr lang="en-IN" dirty="0"/>
              <a:t> / IDE)</a:t>
            </a:r>
          </a:p>
          <a:p>
            <a:r>
              <a:rPr lang="en-IN" dirty="0"/>
              <a:t>Libraries used: Pandas, NumPy, Scikit-learn, Matplotlib, Seaborn, Folium</a:t>
            </a:r>
          </a:p>
          <a:p>
            <a:r>
              <a:rPr lang="en-IN" dirty="0"/>
              <a:t>Dataset includes EV station details, historical demand, time, and location data</a:t>
            </a:r>
          </a:p>
          <a:p>
            <a:r>
              <a:rPr lang="en-IN" dirty="0"/>
              <a:t>Data split into training set (80%) and testing set (20%)</a:t>
            </a:r>
          </a:p>
          <a:p>
            <a:r>
              <a:rPr lang="en-IN" dirty="0"/>
              <a:t>Feature scaling and preprocessing applied before model training</a:t>
            </a:r>
          </a:p>
          <a:p>
            <a:r>
              <a:rPr lang="en-IN" dirty="0"/>
              <a:t>Machine learning models tested:</a:t>
            </a:r>
          </a:p>
          <a:p>
            <a:pPr lvl="1"/>
            <a:r>
              <a:rPr lang="en-IN" dirty="0"/>
              <a:t>Linear Regression</a:t>
            </a:r>
          </a:p>
          <a:p>
            <a:pPr lvl="1"/>
            <a:r>
              <a:rPr lang="en-IN" dirty="0"/>
              <a:t>Random Forest Regressor</a:t>
            </a:r>
          </a:p>
          <a:p>
            <a:r>
              <a:rPr lang="en-IN" dirty="0"/>
              <a:t>Model performance evaluated using:</a:t>
            </a:r>
          </a:p>
          <a:p>
            <a:pPr lvl="1"/>
            <a:r>
              <a:rPr lang="en-IN" dirty="0"/>
              <a:t>Mean Absolute Error (MAE)</a:t>
            </a:r>
          </a:p>
          <a:p>
            <a:pPr lvl="1"/>
            <a:r>
              <a:rPr lang="en-IN" dirty="0"/>
              <a:t>Mean Squared Error (MSE)</a:t>
            </a:r>
          </a:p>
          <a:p>
            <a:pPr lvl="1"/>
            <a:r>
              <a:rPr lang="en-IN" dirty="0"/>
              <a:t>R² Score</a:t>
            </a:r>
          </a:p>
          <a:p>
            <a:r>
              <a:rPr lang="en-IN" dirty="0"/>
              <a:t>Predictions integrated with route recommendation module</a:t>
            </a:r>
          </a:p>
          <a:p>
            <a:r>
              <a:rPr lang="en-IN" dirty="0"/>
              <a:t>Results visualized using graphs and map-based outputs</a:t>
            </a:r>
          </a:p>
          <a:p>
            <a:endParaRPr lang="en-IN" dirty="0"/>
          </a:p>
        </p:txBody>
      </p:sp>
    </p:spTree>
    <p:extLst>
      <p:ext uri="{BB962C8B-B14F-4D97-AF65-F5344CB8AC3E}">
        <p14:creationId xmlns:p14="http://schemas.microsoft.com/office/powerpoint/2010/main" val="277912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5FA3D-7915-B3FA-A5D7-3615A2FE6D6D}"/>
              </a:ext>
            </a:extLst>
          </p:cNvPr>
          <p:cNvSpPr>
            <a:spLocks noGrp="1"/>
          </p:cNvSpPr>
          <p:nvPr>
            <p:ph type="title"/>
          </p:nvPr>
        </p:nvSpPr>
        <p:spPr>
          <a:xfrm>
            <a:off x="1484312" y="234893"/>
            <a:ext cx="3893032" cy="1065402"/>
          </a:xfrm>
        </p:spPr>
        <p:txBody>
          <a:bodyPr>
            <a:normAutofit/>
          </a:bodyPr>
          <a:lstStyle/>
          <a:p>
            <a:r>
              <a:rPr lang="en-US" sz="2400" dirty="0">
                <a:solidFill>
                  <a:srgbClr val="7030A0"/>
                </a:solidFill>
              </a:rPr>
              <a:t>APPLICATIONS</a:t>
            </a:r>
            <a:endParaRPr lang="en-IN" sz="2400" dirty="0">
              <a:solidFill>
                <a:srgbClr val="7030A0"/>
              </a:solidFill>
            </a:endParaRPr>
          </a:p>
        </p:txBody>
      </p:sp>
      <p:sp>
        <p:nvSpPr>
          <p:cNvPr id="4" name="Rectangle 1">
            <a:extLst>
              <a:ext uri="{FF2B5EF4-FFF2-40B4-BE49-F238E27FC236}">
                <a16:creationId xmlns:a16="http://schemas.microsoft.com/office/drawing/2014/main" id="{2DB0F1CF-9C9F-5C82-35F6-CEA7E86DB993}"/>
              </a:ext>
            </a:extLst>
          </p:cNvPr>
          <p:cNvSpPr>
            <a:spLocks noGrp="1" noChangeArrowheads="1"/>
          </p:cNvSpPr>
          <p:nvPr>
            <p:ph idx="1"/>
          </p:nvPr>
        </p:nvSpPr>
        <p:spPr bwMode="auto">
          <a:xfrm>
            <a:off x="1921079" y="1359093"/>
            <a:ext cx="958194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 Navigation Systems</a:t>
            </a:r>
            <a:r>
              <a:rPr kumimoji="0" lang="en-US" altLang="en-US" sz="1800" b="0" i="0" u="none" strike="noStrike" cap="none" normalizeH="0" baseline="0" dirty="0">
                <a:ln>
                  <a:noFill/>
                </a:ln>
                <a:solidFill>
                  <a:schemeClr val="tx1"/>
                </a:solidFill>
                <a:effectLst/>
                <a:latin typeface="Arial" panose="020B0604020202020204" pitchFamily="34" charset="0"/>
              </a:rPr>
              <a:t> – Guides drivers to optimal charging stations along routes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City Planning</a:t>
            </a:r>
            <a:r>
              <a:rPr kumimoji="0" lang="en-US" altLang="en-US" sz="1800" b="0" i="0" u="none" strike="noStrike" cap="none" normalizeH="0" baseline="0" dirty="0">
                <a:ln>
                  <a:noFill/>
                </a:ln>
                <a:solidFill>
                  <a:schemeClr val="tx1"/>
                </a:solidFill>
                <a:effectLst/>
                <a:latin typeface="Arial" panose="020B0604020202020204" pitchFamily="34" charset="0"/>
              </a:rPr>
              <a:t> – Helps authorities plan charging infrastructure based on demand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Charging Network Management</a:t>
            </a:r>
            <a:r>
              <a:rPr kumimoji="0" lang="en-US" altLang="en-US" sz="1800" b="0" i="0" u="none" strike="noStrike" cap="none" normalizeH="0" baseline="0" dirty="0">
                <a:ln>
                  <a:noFill/>
                </a:ln>
                <a:solidFill>
                  <a:schemeClr val="tx1"/>
                </a:solidFill>
                <a:effectLst/>
                <a:latin typeface="Arial" panose="020B0604020202020204" pitchFamily="34" charset="0"/>
              </a:rPr>
              <a:t> – Supports operators in load balancing and station planning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Traffic &amp; Transport Systems</a:t>
            </a:r>
            <a:r>
              <a:rPr kumimoji="0" lang="en-US" altLang="en-US" sz="1800" b="0" i="0" u="none" strike="noStrike" cap="none" normalizeH="0" baseline="0" dirty="0">
                <a:ln>
                  <a:noFill/>
                </a:ln>
                <a:solidFill>
                  <a:schemeClr val="tx1"/>
                </a:solidFill>
                <a:effectLst/>
                <a:latin typeface="Arial" panose="020B0604020202020204" pitchFamily="34" charset="0"/>
              </a:rPr>
              <a:t> – Integrates with intelligent transport solutions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Energy Management</a:t>
            </a:r>
            <a:r>
              <a:rPr kumimoji="0" lang="en-US" altLang="en-US" sz="1800" b="0" i="0" u="none" strike="noStrike" cap="none" normalizeH="0" baseline="0" dirty="0">
                <a:ln>
                  <a:noFill/>
                </a:ln>
                <a:solidFill>
                  <a:schemeClr val="tx1"/>
                </a:solidFill>
                <a:effectLst/>
                <a:latin typeface="Arial" panose="020B0604020202020204" pitchFamily="34" charset="0"/>
              </a:rPr>
              <a:t> – Assists in forecasting power demand at charging stations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Fleet Management</a:t>
            </a:r>
            <a:r>
              <a:rPr kumimoji="0" lang="en-US" altLang="en-US" sz="1800" b="0" i="0" u="none" strike="noStrike" cap="none" normalizeH="0" baseline="0" dirty="0">
                <a:ln>
                  <a:noFill/>
                </a:ln>
                <a:solidFill>
                  <a:schemeClr val="tx1"/>
                </a:solidFill>
                <a:effectLst/>
                <a:latin typeface="Arial" panose="020B0604020202020204" pitchFamily="34" charset="0"/>
              </a:rPr>
              <a:t> – Useful for electric buses, taxis, and delivery vehicles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Sustainable Transportation</a:t>
            </a:r>
            <a:r>
              <a:rPr kumimoji="0" lang="en-US" altLang="en-US" sz="1800" b="0" i="0" u="none" strike="noStrike" cap="none" normalizeH="0" baseline="0" dirty="0">
                <a:ln>
                  <a:noFill/>
                </a:ln>
                <a:solidFill>
                  <a:schemeClr val="tx1"/>
                </a:solidFill>
                <a:effectLst/>
                <a:latin typeface="Arial" panose="020B0604020202020204" pitchFamily="34" charset="0"/>
              </a:rPr>
              <a:t> – Promotes efficient EV usage and reduces range anxiety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Urban Infrastructure Development</a:t>
            </a:r>
            <a:r>
              <a:rPr kumimoji="0" lang="en-US" altLang="en-US" sz="1800" b="0" i="0" u="none" strike="noStrike" cap="none" normalizeH="0" baseline="0" dirty="0">
                <a:ln>
                  <a:noFill/>
                </a:ln>
                <a:solidFill>
                  <a:schemeClr val="tx1"/>
                </a:solidFill>
                <a:effectLst/>
                <a:latin typeface="Arial" panose="020B0604020202020204" pitchFamily="34" charset="0"/>
              </a:rPr>
              <a:t> – Identifies high-demand zones for new station setup</a:t>
            </a:r>
          </a:p>
        </p:txBody>
      </p:sp>
    </p:spTree>
    <p:extLst>
      <p:ext uri="{BB962C8B-B14F-4D97-AF65-F5344CB8AC3E}">
        <p14:creationId xmlns:p14="http://schemas.microsoft.com/office/powerpoint/2010/main" val="3359625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B876-6590-D57D-4CA3-60D1D08488F8}"/>
              </a:ext>
            </a:extLst>
          </p:cNvPr>
          <p:cNvSpPr>
            <a:spLocks noGrp="1"/>
          </p:cNvSpPr>
          <p:nvPr>
            <p:ph type="title"/>
          </p:nvPr>
        </p:nvSpPr>
        <p:spPr>
          <a:xfrm>
            <a:off x="1484311" y="83891"/>
            <a:ext cx="3523917" cy="1593908"/>
          </a:xfrm>
        </p:spPr>
        <p:txBody>
          <a:bodyPr>
            <a:normAutofit/>
          </a:bodyPr>
          <a:lstStyle/>
          <a:p>
            <a:r>
              <a:rPr lang="en-US" sz="2400" b="1" dirty="0">
                <a:solidFill>
                  <a:srgbClr val="7030A0"/>
                </a:solidFill>
              </a:rPr>
              <a:t>FUTURE SCOPE</a:t>
            </a:r>
            <a:endParaRPr lang="en-IN" sz="2400" b="1" dirty="0">
              <a:solidFill>
                <a:srgbClr val="7030A0"/>
              </a:solidFill>
            </a:endParaRPr>
          </a:p>
        </p:txBody>
      </p:sp>
      <p:sp>
        <p:nvSpPr>
          <p:cNvPr id="4" name="Rectangle 1">
            <a:extLst>
              <a:ext uri="{FF2B5EF4-FFF2-40B4-BE49-F238E27FC236}">
                <a16:creationId xmlns:a16="http://schemas.microsoft.com/office/drawing/2014/main" id="{950C3532-F930-4574-AAD8-6D60D811F58B}"/>
              </a:ext>
            </a:extLst>
          </p:cNvPr>
          <p:cNvSpPr>
            <a:spLocks noGrp="1" noChangeArrowheads="1"/>
          </p:cNvSpPr>
          <p:nvPr>
            <p:ph idx="1"/>
          </p:nvPr>
        </p:nvSpPr>
        <p:spPr bwMode="auto">
          <a:xfrm>
            <a:off x="1853967" y="1274950"/>
            <a:ext cx="683295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Integration with real-time charging station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Use of deep learning models for more accurate demand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Development of a mobile application for EV users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Incorporation of live traffic and weather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Smart dynamic pricing based on demand levels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Vehicle-to-Grid (V2G) integration for energy optimization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Expansion to support multiple cities and regions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Integration with smart grid and renewable energy sources</a:t>
            </a:r>
          </a:p>
        </p:txBody>
      </p:sp>
    </p:spTree>
    <p:extLst>
      <p:ext uri="{BB962C8B-B14F-4D97-AF65-F5344CB8AC3E}">
        <p14:creationId xmlns:p14="http://schemas.microsoft.com/office/powerpoint/2010/main" val="3595710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2303E-B28A-40F4-F196-3FBD8073E666}"/>
              </a:ext>
            </a:extLst>
          </p:cNvPr>
          <p:cNvSpPr>
            <a:spLocks noGrp="1"/>
          </p:cNvSpPr>
          <p:nvPr>
            <p:ph type="title"/>
          </p:nvPr>
        </p:nvSpPr>
        <p:spPr>
          <a:xfrm>
            <a:off x="1484312" y="226502"/>
            <a:ext cx="3607806" cy="1216403"/>
          </a:xfrm>
        </p:spPr>
        <p:txBody>
          <a:bodyPr>
            <a:normAutofit/>
          </a:bodyPr>
          <a:lstStyle/>
          <a:p>
            <a:r>
              <a:rPr lang="en-US" sz="2400" b="1" dirty="0">
                <a:solidFill>
                  <a:srgbClr val="7030A0"/>
                </a:solidFill>
              </a:rPr>
              <a:t>CONCLUSION:</a:t>
            </a:r>
            <a:endParaRPr lang="en-IN" sz="2400" b="1" dirty="0">
              <a:solidFill>
                <a:srgbClr val="7030A0"/>
              </a:solidFill>
            </a:endParaRPr>
          </a:p>
        </p:txBody>
      </p:sp>
      <p:sp>
        <p:nvSpPr>
          <p:cNvPr id="3" name="Content Placeholder 2">
            <a:extLst>
              <a:ext uri="{FF2B5EF4-FFF2-40B4-BE49-F238E27FC236}">
                <a16:creationId xmlns:a16="http://schemas.microsoft.com/office/drawing/2014/main" id="{791EEAED-B8E5-494E-D9FF-80A9F38410C8}"/>
              </a:ext>
            </a:extLst>
          </p:cNvPr>
          <p:cNvSpPr>
            <a:spLocks noGrp="1"/>
          </p:cNvSpPr>
          <p:nvPr>
            <p:ph idx="1"/>
          </p:nvPr>
        </p:nvSpPr>
        <p:spPr>
          <a:xfrm>
            <a:off x="1484310" y="1325460"/>
            <a:ext cx="10018713" cy="2592199"/>
          </a:xfrm>
        </p:spPr>
        <p:txBody>
          <a:bodyPr>
            <a:normAutofit/>
          </a:bodyPr>
          <a:lstStyle/>
          <a:p>
            <a:pPr marL="0" indent="0">
              <a:buNone/>
            </a:pPr>
            <a:r>
              <a:rPr lang="en-US" sz="1800" dirty="0"/>
              <a:t>The EV Charging Infrastructure and Demand Forecasting System provides an intelligent solution to support the growing adoption of electric vehicles. By using machine learning models such as Linear Regression and Random Forest, the system accurately predicts future charging demand based on historical, location, and time-based data. These predictions are integrated with a route recommendation module to guide users toward optimal charging stations, reducing range anxiety and avoiding congestion. The system not only helps EV drivers plan their journeys efficiently but also offers valuable insights for infrastructure planners and smart city development. Overall, the project contributes to building a smarter, more reliable, and sustainable transportation ecosystem.</a:t>
            </a:r>
            <a:endParaRPr lang="en-IN" sz="1800" dirty="0"/>
          </a:p>
        </p:txBody>
      </p:sp>
    </p:spTree>
    <p:extLst>
      <p:ext uri="{BB962C8B-B14F-4D97-AF65-F5344CB8AC3E}">
        <p14:creationId xmlns:p14="http://schemas.microsoft.com/office/powerpoint/2010/main" val="3342294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8A6ECA-CE44-BB33-9CA1-B95CDFABC212}"/>
              </a:ext>
            </a:extLst>
          </p:cNvPr>
          <p:cNvSpPr>
            <a:spLocks noGrp="1"/>
          </p:cNvSpPr>
          <p:nvPr>
            <p:ph type="title"/>
          </p:nvPr>
        </p:nvSpPr>
        <p:spPr>
          <a:xfrm>
            <a:off x="1484311" y="685800"/>
            <a:ext cx="10018713" cy="4909657"/>
          </a:xfrm>
        </p:spPr>
        <p:txBody>
          <a:bodyPr/>
          <a:lstStyle/>
          <a:p>
            <a:r>
              <a:rPr lang="en-US" b="1" dirty="0">
                <a:solidFill>
                  <a:srgbClr val="7030A0"/>
                </a:solidFill>
              </a:rPr>
              <a:t>THANK YOU</a:t>
            </a:r>
            <a:endParaRPr lang="en-IN" b="1" dirty="0">
              <a:solidFill>
                <a:srgbClr val="7030A0"/>
              </a:solidFill>
            </a:endParaRPr>
          </a:p>
        </p:txBody>
      </p:sp>
    </p:spTree>
    <p:extLst>
      <p:ext uri="{BB962C8B-B14F-4D97-AF65-F5344CB8AC3E}">
        <p14:creationId xmlns:p14="http://schemas.microsoft.com/office/powerpoint/2010/main" val="3545094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108</TotalTime>
  <Words>1597</Words>
  <Application>Microsoft Office PowerPoint</Application>
  <PresentationFormat>Widescreen</PresentationFormat>
  <Paragraphs>128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Corbel</vt:lpstr>
      <vt:lpstr>Parallax</vt:lpstr>
      <vt:lpstr>SRI VENKATESWARA COLLEGE OF ENGINEERING AND TECHNOLOGY(AUTONOMOUS)</vt:lpstr>
      <vt:lpstr>ABSTRACT</vt:lpstr>
      <vt:lpstr>INTRODUCTION</vt:lpstr>
      <vt:lpstr>PROBLEM STATEMENT:</vt:lpstr>
      <vt:lpstr>EXISTING PROJECT:</vt:lpstr>
      <vt:lpstr>OUR PROJECT:</vt:lpstr>
      <vt:lpstr>SYSTEM ARCHITECHTURE</vt:lpstr>
      <vt:lpstr>METHODOLOGY</vt:lpstr>
      <vt:lpstr>IMPLEMENTATION</vt:lpstr>
      <vt:lpstr>EXPERIMENTAL SETUP</vt:lpstr>
      <vt:lpstr>APPLICATIONS</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Duddikunta Susmitha</dc:creator>
  <cp:lastModifiedBy>Duddikunta Susmitha</cp:lastModifiedBy>
  <cp:revision>2</cp:revision>
  <dcterms:created xsi:type="dcterms:W3CDTF">2026-01-23T17:16:55Z</dcterms:created>
  <dcterms:modified xsi:type="dcterms:W3CDTF">2026-01-31T15:20:59Z</dcterms:modified>
</cp:coreProperties>
</file>